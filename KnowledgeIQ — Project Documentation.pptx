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0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406400" cy="406400"/>
          </a:xfrm>
          <a:prstGeom prst="roundRect">
            <a:avLst>
              <a:gd name="adj" fmla="val 28125"/>
            </a:avLst>
          </a:prstGeom>
          <a:solidFill>
            <a:srgbClr val="A8E635"/>
          </a:solidFill>
          <a:ln/>
        </p:spPr>
      </p:sp>
      <p:sp>
        <p:nvSpPr>
          <p:cNvPr id="3" name="Text 1"/>
          <p:cNvSpPr/>
          <p:nvPr/>
        </p:nvSpPr>
        <p:spPr>
          <a:xfrm>
            <a:off x="948373" y="864870"/>
            <a:ext cx="18597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46200" y="882650"/>
            <a:ext cx="12449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6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KnowledgeIQ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0574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E6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&amp; TECHNICAL DOCUMENTATION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448560"/>
            <a:ext cx="10883392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140"/>
              </a:lnSpc>
              <a:buNone/>
            </a:pPr>
            <a:r>
              <a:rPr lang="en-US" sz="6800" b="1" dirty="0">
                <a:solidFill>
                  <a:srgbClr val="F5F6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KnowledgeIQ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812800" y="3533140"/>
            <a:ext cx="8502650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C3CD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Workforce Skill Intelligence &amp; Adaptive Learning Platform — mapping organizational competencies, detecting critical skill gaps, and generating personalized learning interventions.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5975" y="4620895"/>
            <a:ext cx="2019935" cy="3695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0280" y="4699000"/>
            <a:ext cx="1762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FE6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17 · Spring Boot 3.2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43860" y="4620895"/>
            <a:ext cx="1348740" cy="3695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8165" y="4699000"/>
            <a:ext cx="10909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FE6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 18 + Vite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00550" y="4620895"/>
            <a:ext cx="1893173" cy="3695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4855" y="4699000"/>
            <a:ext cx="1635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FE6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· Supabase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1673" y="4620895"/>
            <a:ext cx="1506855" cy="36957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5978" y="4699000"/>
            <a:ext cx="12490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FE6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Gemini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5831840"/>
            <a:ext cx="29765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C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8 · Springboard Mentorship Program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3440" y="5831840"/>
            <a:ext cx="41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C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16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62455"/>
            <a:ext cx="2482850" cy="2508250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pic>
        <p:nvPicPr>
          <p:cNvPr id="5" name="Image 0" descr="Cod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6480" y="20929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2423160"/>
            <a:ext cx="208249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46480" y="2768600"/>
            <a:ext cx="208249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 18 SPA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Vite 5 build tooling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Tailwind CSS + Recharts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Lucide icon system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08375" y="1862455"/>
            <a:ext cx="2482850" cy="2508250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pic>
        <p:nvPicPr>
          <p:cNvPr id="9" name="Image 1" descr="Setting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38880" y="20929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38880" y="2423160"/>
            <a:ext cx="208249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738880" y="2768600"/>
            <a:ext cx="2082495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17 · Spring Boot 3.2.3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Security 6 + JWT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Data JPA / Hibernate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HikariCP connection pool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00775" y="1862455"/>
            <a:ext cx="2482850" cy="2508250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pic>
        <p:nvPicPr>
          <p:cNvPr id="13" name="Image 2" descr="Databa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31280" y="20929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31280" y="2423160"/>
            <a:ext cx="208249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&amp; AI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31280" y="2768600"/>
            <a:ext cx="20824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(Supabase Cloud)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 relational JPA entities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Gemini AI advisor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 heuristic fallback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893175" y="1862455"/>
            <a:ext cx="2482850" cy="2508250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pic>
        <p:nvPicPr>
          <p:cNvPr id="17" name="Image 3" descr="Wrench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23680" y="209296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23680" y="2423160"/>
            <a:ext cx="208249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DevOps &amp; Tooling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123680" y="2768600"/>
            <a:ext cx="208249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+ Docker Compose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Maven (mvnw) build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Node.js QA automation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 production serving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41"/>
            <a:ext cx="64531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92 Java source files · 19 REST controllers · 15 service modules · 24 Spring Data repositories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—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16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Features of the Platform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37055"/>
            <a:ext cx="5187950" cy="1228725"/>
          </a:xfrm>
          <a:prstGeom prst="roundRect">
            <a:avLst>
              <a:gd name="adj" fmla="val 10078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pic>
        <p:nvPicPr>
          <p:cNvPr id="5" name="Image 0" descr="Char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6480" y="2087880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8580" y="2067561"/>
            <a:ext cx="299211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Dynamic Competency Mapping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46480" y="2374900"/>
            <a:ext cx="486874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Evaluates proficiency (Levels 1–5) against role benchmarks, with radar-chart comparisons and self, peer &amp; manager assessments.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88075" y="1837055"/>
            <a:ext cx="5187950" cy="1228725"/>
          </a:xfrm>
          <a:prstGeom prst="roundRect">
            <a:avLst>
              <a:gd name="adj" fmla="val 10078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pic>
        <p:nvPicPr>
          <p:cNvPr id="9" name="Image 1" descr="Light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18580" y="2087880"/>
            <a:ext cx="203200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10680" y="2067561"/>
            <a:ext cx="22312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Gap Engine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18580" y="2374900"/>
            <a:ext cx="486874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Computes deficit = max(0, Required − Current), scores severity (Critical/High/Medium/Low) and tracks historical gap snapshots.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5975" y="3249930"/>
            <a:ext cx="5187950" cy="1458913"/>
          </a:xfrm>
          <a:prstGeom prst="roundRect">
            <a:avLst>
              <a:gd name="adj" fmla="val 8487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pic>
        <p:nvPicPr>
          <p:cNvPr id="13" name="Image 2" descr="GraduationCap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6480" y="3500755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38580" y="3480436"/>
            <a:ext cx="236095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Adaptive Learning Paths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46480" y="3787775"/>
            <a:ext cx="4868748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Sequences courses by prerequisite weight and gap urgency, tracked across four milestones, auto-elevating proficiency on completion.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88075" y="3249930"/>
            <a:ext cx="5187950" cy="1458913"/>
          </a:xfrm>
          <a:prstGeom prst="roundRect">
            <a:avLst>
              <a:gd name="adj" fmla="val 8487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pic>
        <p:nvPicPr>
          <p:cNvPr id="17" name="Image 3" descr="User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18580" y="3500755"/>
            <a:ext cx="203200" cy="203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10680" y="3480436"/>
            <a:ext cx="256485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Peer Knowledge Exchange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18580" y="3787775"/>
            <a:ext cx="4868748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Expert host eligibility (≥90% proficiency), live knowledge sessions, 1-on-1 mentorship matching, and structured feedback loops.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12800" y="6238241"/>
            <a:ext cx="89728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Delivered across 6 role-based dashboards: Employee · Manager · HR Specialist · Department Head · L&amp;D Admin · System Admin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— PROBLEM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16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Challenges Facing the Industry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9280"/>
            <a:ext cx="8128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DDE2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778000" y="1859280"/>
            <a:ext cx="850265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Static Skill Profiles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2141220"/>
            <a:ext cx="8502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Traditional HR records skills once at hiring; real capability decays or evolves completely unmonitored afterward.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2800" y="2819400"/>
            <a:ext cx="8128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DDE2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778000" y="2819400"/>
            <a:ext cx="850265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Invisible Competency Deficits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3101341"/>
            <a:ext cx="8502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Organizations lack real-time visibility into high-risk capability gaps before launching strategic projects.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2800" y="3779520"/>
            <a:ext cx="8128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DDE2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778000" y="3779520"/>
            <a:ext cx="850265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Fragmented Learning Journeys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78000" y="4061461"/>
            <a:ext cx="8502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Training catalogs stay disconnected from detected skill benchmarks, driving low completion and poor ROI.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2800" y="4739641"/>
            <a:ext cx="8128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DDE2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778000" y="4739641"/>
            <a:ext cx="850265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Siloed Domain Knowledge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8000" y="5021580"/>
            <a:ext cx="8502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Senior subject-matter experts lack structured peer platforms to host sessions and mentor junior talent.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1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kern="0" spc="150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— SYSTEM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12800" y="1075057"/>
            <a:ext cx="10883392" cy="464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1016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Architecture Overview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2289175" y="1745456"/>
            <a:ext cx="7613650" cy="757317"/>
          </a:xfrm>
          <a:prstGeom prst="roundRect">
            <a:avLst>
              <a:gd name="adj" fmla="val 12997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19680" y="1925163"/>
            <a:ext cx="7367219" cy="217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4"/>
              </a:lnSpc>
              <a:buNone/>
            </a:pPr>
            <a:r>
              <a:rPr lang="en-US" sz="127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 18 + Vite Frontend</a:t>
            </a:r>
            <a:endParaRPr lang="en-US" sz="1270" dirty="0"/>
          </a:p>
        </p:txBody>
      </p:sp>
      <p:sp>
        <p:nvSpPr>
          <p:cNvPr id="6" name="Text 4"/>
          <p:cNvSpPr/>
          <p:nvPr/>
        </p:nvSpPr>
        <p:spPr>
          <a:xfrm>
            <a:off x="2519680" y="2155189"/>
            <a:ext cx="7367219" cy="19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4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role-based dashboards · Recharts visualizations · Tailwind CSS</a:t>
            </a:r>
            <a:endParaRPr lang="en-US" sz="945" dirty="0"/>
          </a:p>
        </p:txBody>
      </p:sp>
      <p:pic>
        <p:nvPicPr>
          <p:cNvPr id="7" name="Image 0" descr="connector"/>
          <p:cNvPicPr>
            <a:picLocks noChangeAspect="1"/>
          </p:cNvPicPr>
          <p:nvPr/>
        </p:nvPicPr>
        <p:blipFill>
          <a:blip r:embed="rId3"/>
          <a:srcRect l="-559" r="-559"/>
          <a:stretch/>
        </p:blipFill>
        <p:spPr>
          <a:xfrm>
            <a:off x="6045200" y="2607549"/>
            <a:ext cx="101600" cy="1632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82014" y="2872423"/>
            <a:ext cx="2912812" cy="196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0"/>
              </a:lnSpc>
              <a:buNone/>
            </a:pPr>
            <a:r>
              <a:rPr lang="en-US" sz="979" b="1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 API — Stateless JWT Bearer Authentication</a:t>
            </a:r>
            <a:endParaRPr lang="en-US" sz="979" dirty="0"/>
          </a:p>
        </p:txBody>
      </p:sp>
      <p:pic>
        <p:nvPicPr>
          <p:cNvPr id="9" name="Image 1" descr="connector"/>
          <p:cNvPicPr>
            <a:picLocks noChangeAspect="1"/>
          </p:cNvPicPr>
          <p:nvPr/>
        </p:nvPicPr>
        <p:blipFill>
          <a:blip r:embed="rId3"/>
          <a:srcRect l="-559" r="-559"/>
          <a:stretch/>
        </p:blipFill>
        <p:spPr>
          <a:xfrm>
            <a:off x="6045200" y="3145393"/>
            <a:ext cx="101600" cy="16327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89175" y="3413444"/>
            <a:ext cx="7613650" cy="757317"/>
          </a:xfrm>
          <a:prstGeom prst="roundRect">
            <a:avLst>
              <a:gd name="adj" fmla="val 12997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19680" y="3593148"/>
            <a:ext cx="7367219" cy="217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4"/>
              </a:lnSpc>
              <a:buNone/>
            </a:pPr>
            <a:r>
              <a:rPr lang="en-US" sz="127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 3 REST Backend</a:t>
            </a:r>
            <a:endParaRPr lang="en-US" sz="1270" dirty="0"/>
          </a:p>
        </p:txBody>
      </p:sp>
      <p:sp>
        <p:nvSpPr>
          <p:cNvPr id="12" name="Text 8"/>
          <p:cNvSpPr/>
          <p:nvPr/>
        </p:nvSpPr>
        <p:spPr>
          <a:xfrm>
            <a:off x="2519680" y="3823177"/>
            <a:ext cx="7367219" cy="19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4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controllers · 15 services · Spring Security 6 · Gap Analysis &amp; Gemini AI engines</a:t>
            </a:r>
            <a:endParaRPr lang="en-US" sz="945" dirty="0"/>
          </a:p>
        </p:txBody>
      </p:sp>
      <p:pic>
        <p:nvPicPr>
          <p:cNvPr id="13" name="Image 2" descr="connector"/>
          <p:cNvPicPr>
            <a:picLocks noChangeAspect="1"/>
          </p:cNvPicPr>
          <p:nvPr/>
        </p:nvPicPr>
        <p:blipFill>
          <a:blip r:embed="rId3"/>
          <a:srcRect l="-559" r="-559"/>
          <a:stretch/>
        </p:blipFill>
        <p:spPr>
          <a:xfrm>
            <a:off x="6045200" y="4275534"/>
            <a:ext cx="101600" cy="1632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54045" y="4540408"/>
            <a:ext cx="2146347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0"/>
              </a:lnSpc>
              <a:buNone/>
            </a:pPr>
            <a:r>
              <a:rPr lang="en-US" sz="979" b="1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Data JPA / Hibernate — JDBC</a:t>
            </a:r>
            <a:endParaRPr lang="en-US" sz="979" dirty="0"/>
          </a:p>
        </p:txBody>
      </p:sp>
      <p:pic>
        <p:nvPicPr>
          <p:cNvPr id="15" name="Image 3" descr="connector"/>
          <p:cNvPicPr>
            <a:picLocks noChangeAspect="1"/>
          </p:cNvPicPr>
          <p:nvPr/>
        </p:nvPicPr>
        <p:blipFill>
          <a:blip r:embed="rId3"/>
          <a:srcRect l="-559" r="-559"/>
          <a:stretch/>
        </p:blipFill>
        <p:spPr>
          <a:xfrm>
            <a:off x="6045200" y="4813458"/>
            <a:ext cx="101600" cy="16327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89175" y="5081510"/>
            <a:ext cx="7613650" cy="757317"/>
          </a:xfrm>
          <a:prstGeom prst="roundRect">
            <a:avLst>
              <a:gd name="adj" fmla="val 12997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519680" y="5261214"/>
            <a:ext cx="7367219" cy="217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4"/>
              </a:lnSpc>
              <a:buNone/>
            </a:pPr>
            <a:r>
              <a:rPr lang="en-US" sz="127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Database (Supabase Cloud)</a:t>
            </a:r>
            <a:endParaRPr lang="en-US" sz="1270" dirty="0"/>
          </a:p>
        </p:txBody>
      </p:sp>
      <p:sp>
        <p:nvSpPr>
          <p:cNvPr id="18" name="Text 12"/>
          <p:cNvSpPr/>
          <p:nvPr/>
        </p:nvSpPr>
        <p:spPr>
          <a:xfrm>
            <a:off x="2519680" y="5491243"/>
            <a:ext cx="7367219" cy="19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4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 relational entities — users, skills, benchmarks, courses, mentorships, sessions</a:t>
            </a:r>
            <a:endParaRPr lang="en-US" sz="945" dirty="0"/>
          </a:p>
        </p:txBody>
      </p:sp>
      <p:sp>
        <p:nvSpPr>
          <p:cNvPr id="19" name="Text 13"/>
          <p:cNvSpPr/>
          <p:nvPr/>
        </p:nvSpPr>
        <p:spPr>
          <a:xfrm>
            <a:off x="812800" y="6238239"/>
            <a:ext cx="80961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Security: BCrypt password hashing (strength 10) · @PreAuthorize endpoint isolation · CORS restricted in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2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b="1" kern="0" spc="150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— ENGINEERING DECISIONS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096169"/>
            <a:ext cx="10883392" cy="513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73"/>
              </a:lnSpc>
              <a:buNone/>
            </a:pPr>
            <a:r>
              <a:rPr lang="en-US" sz="3521" b="1" dirty="0">
                <a:solidFill>
                  <a:srgbClr val="1016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Challenges &amp; Solutions in KnowledgeIQ</a:t>
            </a:r>
            <a:endParaRPr lang="en-US" sz="3521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422455"/>
              </p:ext>
            </p:extLst>
          </p:nvPr>
        </p:nvGraphicFramePr>
        <p:xfrm>
          <a:off x="812800" y="1813006"/>
          <a:ext cx="10566400" cy="4018836"/>
        </p:xfrm>
        <a:graphic>
          <a:graphicData uri="http://schemas.openxmlformats.org/drawingml/2006/table">
            <a:tbl>
              <a:tblPr/>
              <a:tblGrid>
                <a:gridCol w="4649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7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616"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Challenge</a:t>
                      </a:r>
                      <a:endParaRPr lang="en-US" sz="1243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Engineering Solution</a:t>
                      </a:r>
                      <a:endParaRPr lang="en-US" sz="1243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596"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016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Skill records go stale after hiring</a:t>
                      </a:r>
                      <a:endParaRPr lang="en-US" sz="124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Continuous self / peer / manager assessments auto-recalculate gaps via GapAnalysisService</a:t>
                      </a:r>
                      <a:endParaRPr lang="en-US" sz="124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596"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016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visibility into high-risk shortages</a:t>
                      </a:r>
                      <a:endParaRPr lang="en-US" sz="124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Automated Gap Engine with Critical / High / Medium / Low severity scoring and historical snapshots</a:t>
                      </a:r>
                      <a:endParaRPr lang="en-US" sz="124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676"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016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Training catalogs disconnected from real gaps</a:t>
                      </a:r>
                      <a:endParaRPr lang="en-US" sz="124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Adaptive learning paths sequenced by prerequisite weight and gap urgency (Critical → Low)</a:t>
                      </a:r>
                      <a:endParaRPr lang="en-US" sz="124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676"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016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peer knowledge-sharing hosts</a:t>
                      </a:r>
                      <a:endParaRPr lang="en-US" sz="124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Host eligibility engine enforcing ≥90% (Level 4+) proficiency before a session can be created</a:t>
                      </a:r>
                      <a:endParaRPr lang="en-US" sz="124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676"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1016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Manual, inconsistent reporting across roles</a:t>
                      </a:r>
                      <a:endParaRPr lang="en-US" sz="124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40"/>
                        </a:lnSpc>
                        <a:buNone/>
                      </a:pPr>
                      <a:r>
                        <a:rPr lang="en-US" sz="1243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Role-scoped dashboards plus one-click PDF / CSV export for HR, managers &amp; department heads</a:t>
                      </a:r>
                      <a:endParaRPr lang="en-US" sz="124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127000" marB="127000">
                    <a:lnL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— PRODUCT WALKTHROUGH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16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Screenshots — Employee &amp; Manager Views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11657"/>
            <a:ext cx="5175250" cy="2908300"/>
          </a:xfrm>
          <a:prstGeom prst="roundRect">
            <a:avLst>
              <a:gd name="adj" fmla="val 3384"/>
            </a:avLst>
          </a:prstGeom>
          <a:noFill/>
          <a:ln w="6350">
            <a:solidFill>
              <a:srgbClr val="E2E5DC"/>
            </a:solidFill>
            <a:prstDash val="solid"/>
          </a:ln>
        </p:spPr>
      </p:sp>
      <p:pic>
        <p:nvPicPr>
          <p:cNvPr id="5" name="Image 0" descr="Employee dashboard showing skill score, knowledge gap, skill growth chart and skill radar"/>
          <p:cNvPicPr>
            <a:picLocks noChangeAspect="1"/>
          </p:cNvPicPr>
          <p:nvPr/>
        </p:nvPicPr>
        <p:blipFill>
          <a:blip r:embed="rId3"/>
          <a:srcRect l="-175" r="-175"/>
          <a:stretch/>
        </p:blipFill>
        <p:spPr>
          <a:xfrm>
            <a:off x="817880" y="1813561"/>
            <a:ext cx="5181600" cy="29044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812032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 Dashboard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5114289"/>
            <a:ext cx="533704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 score, growth trend, and a radar of personal proficiency vs. team average.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811657"/>
            <a:ext cx="5175250" cy="2908300"/>
          </a:xfrm>
          <a:prstGeom prst="roundRect">
            <a:avLst>
              <a:gd name="adj" fmla="val 3384"/>
            </a:avLst>
          </a:prstGeom>
          <a:noFill/>
          <a:ln w="6350">
            <a:solidFill>
              <a:srgbClr val="E2E5DC"/>
            </a:solidFill>
            <a:prstDash val="solid"/>
          </a:ln>
        </p:spPr>
      </p:sp>
      <p:pic>
        <p:nvPicPr>
          <p:cNvPr id="9" name="Image 1" descr="Manager dashboard showing department team competency heatmap and direct reports"/>
          <p:cNvPicPr>
            <a:picLocks noChangeAspect="1"/>
          </p:cNvPicPr>
          <p:nvPr/>
        </p:nvPicPr>
        <p:blipFill>
          <a:blip r:embed="rId4"/>
          <a:srcRect l="-175" r="-175"/>
          <a:stretch/>
        </p:blipFill>
        <p:spPr>
          <a:xfrm>
            <a:off x="6202680" y="1813561"/>
            <a:ext cx="5181600" cy="29044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7600" y="4812032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Manager — Team Gap Heatmap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197600" y="5114289"/>
            <a:ext cx="533704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Domain team grouping with a critical / high / met skill-gap matrix per direct report.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— PRODUCT WALKTHROUGH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16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Screenshots — HR &amp; AI Assessments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11657"/>
            <a:ext cx="5175250" cy="2908300"/>
          </a:xfrm>
          <a:prstGeom prst="roundRect">
            <a:avLst>
              <a:gd name="adj" fmla="val 3384"/>
            </a:avLst>
          </a:prstGeom>
          <a:noFill/>
          <a:ln w="6350">
            <a:solidFill>
              <a:srgbClr val="E2E5DC"/>
            </a:solidFill>
            <a:prstDash val="solid"/>
          </a:ln>
        </p:spPr>
      </p:sp>
      <p:pic>
        <p:nvPicPr>
          <p:cNvPr id="5" name="Image 0" descr="HR analytics dashboard showing critical gaps, training completion rate and certification status"/>
          <p:cNvPicPr>
            <a:picLocks noChangeAspect="1"/>
          </p:cNvPicPr>
          <p:nvPr/>
        </p:nvPicPr>
        <p:blipFill>
          <a:blip r:embed="rId3"/>
          <a:srcRect l="-175" r="-175"/>
          <a:stretch/>
        </p:blipFill>
        <p:spPr>
          <a:xfrm>
            <a:off x="817880" y="1813561"/>
            <a:ext cx="5181600" cy="29044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812029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 Analytics Dashboard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5114292"/>
            <a:ext cx="533704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Org-wide critical gaps, training completion trend, and certification status at a glance.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811657"/>
            <a:ext cx="5175250" cy="2908300"/>
          </a:xfrm>
          <a:prstGeom prst="roundRect">
            <a:avLst>
              <a:gd name="adj" fmla="val 3384"/>
            </a:avLst>
          </a:prstGeom>
          <a:noFill/>
          <a:ln w="6350">
            <a:solidFill>
              <a:srgbClr val="E2E5DC"/>
            </a:solidFill>
            <a:prstDash val="solid"/>
          </a:ln>
        </p:spPr>
      </p:sp>
      <p:pic>
        <p:nvPicPr>
          <p:cNvPr id="9" name="Image 1" descr="AI adaptive skill assessment portal powered by Gemini, selecting domain topic and difficulty"/>
          <p:cNvPicPr>
            <a:picLocks noChangeAspect="1"/>
          </p:cNvPicPr>
          <p:nvPr/>
        </p:nvPicPr>
        <p:blipFill>
          <a:blip r:embed="rId4"/>
          <a:srcRect l="-175" r="-175"/>
          <a:stretch/>
        </p:blipFill>
        <p:spPr>
          <a:xfrm>
            <a:off x="6202680" y="1813561"/>
            <a:ext cx="5181600" cy="29044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7600" y="4812029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Adaptive Assessment Portal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197600" y="5114292"/>
            <a:ext cx="533704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Gemini-generated skill tests that update the employee's proficiency profile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— PRODUCT WALKTHROUGH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16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Screenshots — Mentorship &amp; Reporting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11654"/>
            <a:ext cx="5175250" cy="2908300"/>
          </a:xfrm>
          <a:prstGeom prst="roundRect">
            <a:avLst>
              <a:gd name="adj" fmla="val 3384"/>
            </a:avLst>
          </a:prstGeom>
          <a:noFill/>
          <a:ln w="6350">
            <a:solidFill>
              <a:srgbClr val="E2E5DC"/>
            </a:solidFill>
            <a:prstDash val="solid"/>
          </a:ln>
        </p:spPr>
      </p:sp>
      <p:pic>
        <p:nvPicPr>
          <p:cNvPr id="5" name="Image 0" descr="Peer mentorship and knowledge sharing screen listing mentors, mentees and upcoming sessions"/>
          <p:cNvPicPr>
            <a:picLocks noChangeAspect="1"/>
          </p:cNvPicPr>
          <p:nvPr/>
        </p:nvPicPr>
        <p:blipFill>
          <a:blip r:embed="rId3"/>
          <a:srcRect l="-175" r="-175"/>
          <a:stretch/>
        </p:blipFill>
        <p:spPr>
          <a:xfrm>
            <a:off x="817880" y="1813564"/>
            <a:ext cx="5181600" cy="29044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812029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Peer Mentorship &amp; Sessions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5114292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Mentor / mentee matching plus live knowledge-sharing session scheduling.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811654"/>
            <a:ext cx="5175250" cy="2908300"/>
          </a:xfrm>
          <a:prstGeom prst="roundRect">
            <a:avLst>
              <a:gd name="adj" fmla="val 3384"/>
            </a:avLst>
          </a:prstGeom>
          <a:noFill/>
          <a:ln w="6350">
            <a:solidFill>
              <a:srgbClr val="E2E5DC"/>
            </a:solidFill>
            <a:prstDash val="solid"/>
          </a:ln>
        </p:spPr>
      </p:sp>
      <p:pic>
        <p:nvPicPr>
          <p:cNvPr id="9" name="Image 1" descr="Reports and analytics export center showing skill benchmarks and course enrollment tables"/>
          <p:cNvPicPr>
            <a:picLocks noChangeAspect="1"/>
          </p:cNvPicPr>
          <p:nvPr/>
        </p:nvPicPr>
        <p:blipFill>
          <a:blip r:embed="rId4"/>
          <a:srcRect l="-175" r="-175"/>
          <a:stretch/>
        </p:blipFill>
        <p:spPr>
          <a:xfrm>
            <a:off x="6202680" y="1813564"/>
            <a:ext cx="5181600" cy="29044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7600" y="4812029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 &amp; Analytics Export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197600" y="5114292"/>
            <a:ext cx="533704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One-click PDF / Excel / CSV exports across four report types, per Section 30 compliance.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E6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—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5F6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Measurable Outcomes &amp; Positive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62454"/>
            <a:ext cx="3397250" cy="1583690"/>
          </a:xfrm>
          <a:prstGeom prst="roundRect">
            <a:avLst>
              <a:gd name="adj" fmla="val 7819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092964"/>
            <a:ext cx="302432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A8E6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1,284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46480" y="2753364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3CD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 mapped in the demo workspace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1862454"/>
            <a:ext cx="3397250" cy="1583690"/>
          </a:xfrm>
          <a:prstGeom prst="roundRect">
            <a:avLst>
              <a:gd name="adj" fmla="val 7819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7880" y="2092964"/>
            <a:ext cx="302432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A8E6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96%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27880" y="2753364"/>
            <a:ext cx="30243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3CD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Organization-wide skill coverage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1862454"/>
            <a:ext cx="3397250" cy="1583690"/>
          </a:xfrm>
          <a:prstGeom prst="roundRect">
            <a:avLst>
              <a:gd name="adj" fmla="val 7819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9280" y="2092964"/>
            <a:ext cx="302432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A8E6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3.4x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09280" y="2753364"/>
            <a:ext cx="30243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3CD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Learning ROI multiplier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630296"/>
            <a:ext cx="3397250" cy="1583690"/>
          </a:xfrm>
          <a:prstGeom prst="roundRect">
            <a:avLst>
              <a:gd name="adj" fmla="val 7819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6480" y="3860800"/>
            <a:ext cx="302432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A8E6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046480" y="4521200"/>
            <a:ext cx="30243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3CD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Role-based dashboards shipped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7375" y="3630296"/>
            <a:ext cx="3397250" cy="1583690"/>
          </a:xfrm>
          <a:prstGeom prst="roundRect">
            <a:avLst>
              <a:gd name="adj" fmla="val 7819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7880" y="3860800"/>
            <a:ext cx="302432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A8E6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 / 27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27880" y="4521200"/>
            <a:ext cx="30243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3CD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 controllers / JPA entities built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8775" y="3630296"/>
            <a:ext cx="3397250" cy="1583690"/>
          </a:xfrm>
          <a:prstGeom prst="roundRect">
            <a:avLst>
              <a:gd name="adj" fmla="val 7819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9280" y="3860800"/>
            <a:ext cx="302432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A8E6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209280" y="4521200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3CD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 3 core workflows verified end-to-end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6898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C8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Figures reflect the KnowledgeIQ Enterprise demo workspace and the Milestone 3 integration audit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—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16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37054"/>
            <a:ext cx="3397250" cy="210439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480" y="2067564"/>
            <a:ext cx="1433830" cy="29718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1148080" y="2118364"/>
            <a:ext cx="128143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A8E6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1 · Q1–Q2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6480" y="2466342"/>
            <a:ext cx="30243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Knowledge &amp; RAG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6480" y="2796542"/>
            <a:ext cx="3024327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pgvector corporate policy embeddings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WebSocket peer mentorship chat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Floating RAG semantic document assistant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7375" y="1837054"/>
            <a:ext cx="3397250" cy="210439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7880" y="2067564"/>
            <a:ext cx="1433830" cy="29718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11" name="Text 9"/>
          <p:cNvSpPr/>
          <p:nvPr/>
        </p:nvSpPr>
        <p:spPr>
          <a:xfrm>
            <a:off x="4729480" y="2118364"/>
            <a:ext cx="128143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A8E6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2 · Q3–Q4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7880" y="2466342"/>
            <a:ext cx="30243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Credentials &amp; Live Streaming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7880" y="2796542"/>
            <a:ext cx="3024327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OpenBadges 3.0 verifiable certificates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WebRTC in-browser live session streaming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Collaborative virtual whiteboard canvas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8775" y="1837054"/>
            <a:ext cx="3397250" cy="210439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09280" y="2067564"/>
            <a:ext cx="1628696" cy="29718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8310880" y="2118364"/>
            <a:ext cx="147629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A8E6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3 · HORIZON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09280" y="2466342"/>
            <a:ext cx="30243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Predictive ML &amp; Enterprise Scale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09280" y="2796542"/>
            <a:ext cx="302432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Predictive skill-deficit &amp; succession ML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Schema-per-tenant multi-tenancy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SAML 2.0 / Okta SSO &amp; SCIM sync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4F7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— 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16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 Members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681479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8 · Springboard Mentorship Program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220596"/>
            <a:ext cx="2501900" cy="1725930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62125" y="2476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1929367" y="2613588"/>
            <a:ext cx="442357" cy="372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A8E6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NV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86046" y="3175000"/>
            <a:ext cx="14125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1680"/>
              </a:lnSpc>
            </a:pPr>
            <a:r>
              <a:rPr lang="en-US" sz="1400" b="1" dirty="0" err="1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Nidarshan</a:t>
            </a:r>
            <a:r>
              <a:rPr lang="en-US" sz="14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02025" y="2220596"/>
            <a:ext cx="2501900" cy="1725930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8175" y="2476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4652089" y="2630171"/>
            <a:ext cx="2524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A8E6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34130" y="3175000"/>
            <a:ext cx="18928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Nakul Pradip Indurkar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8075" y="2220596"/>
            <a:ext cx="2501900" cy="1725930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4225" y="2476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7271465" y="2630171"/>
            <a:ext cx="385921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A8E635"/>
                </a:solidFill>
                <a:latin typeface="Space Grotesk" pitchFamily="34" charset="0"/>
                <a:ea typeface="Space Grotesk" pitchFamily="34" charset="-122"/>
              </a:rPr>
              <a:t>MA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05137" y="3175000"/>
            <a:ext cx="13185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algn="ctr">
              <a:lnSpc>
                <a:spcPts val="1680"/>
              </a:lnSpc>
            </a:pPr>
            <a:r>
              <a:rPr lang="en-US" sz="14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Mohammad Arshad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00102" y="3175000"/>
            <a:ext cx="9007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5F6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Nidarshan</a:t>
            </a:r>
            <a:endParaRPr lang="en-US" sz="14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0DA1BCB7-80C1-E0C9-4F98-8D95E0ABA20F}"/>
              </a:ext>
            </a:extLst>
          </p:cNvPr>
          <p:cNvSpPr/>
          <p:nvPr/>
        </p:nvSpPr>
        <p:spPr>
          <a:xfrm>
            <a:off x="8852371" y="2220596"/>
            <a:ext cx="2501900" cy="1725930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 w="6350">
            <a:solidFill>
              <a:srgbClr val="E2E5D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9635A88C-C3A6-D52E-3881-08D0D00E7B2F}"/>
              </a:ext>
            </a:extLst>
          </p:cNvPr>
          <p:cNvSpPr/>
          <p:nvPr/>
        </p:nvSpPr>
        <p:spPr>
          <a:xfrm>
            <a:off x="9789190" y="247396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B6A4DC6-43C6-920B-44AB-E502D3DCE6A3}"/>
              </a:ext>
            </a:extLst>
          </p:cNvPr>
          <p:cNvSpPr/>
          <p:nvPr/>
        </p:nvSpPr>
        <p:spPr>
          <a:xfrm>
            <a:off x="9977074" y="2617470"/>
            <a:ext cx="421715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A8E6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YP</a:t>
            </a:r>
            <a:endParaRPr lang="en-US" sz="17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017CA4CD-7563-C1FE-E237-234239F4941C}"/>
              </a:ext>
            </a:extLst>
          </p:cNvPr>
          <p:cNvSpPr/>
          <p:nvPr/>
        </p:nvSpPr>
        <p:spPr>
          <a:xfrm>
            <a:off x="9444032" y="3170871"/>
            <a:ext cx="13185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Yadav P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9184" y="2419989"/>
            <a:ext cx="11644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E6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FLOOR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818176" y="2811146"/>
            <a:ext cx="4692318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30"/>
              </a:lnSpc>
              <a:buNone/>
            </a:pPr>
            <a:r>
              <a:rPr lang="en-US" sz="6600" b="1" dirty="0">
                <a:solidFill>
                  <a:srgbClr val="F5F6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2498725" y="3869054"/>
            <a:ext cx="71945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C3CD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Happy to walk through the codebase, architecture decisions, the gap-analysis algorithm, or a live demo.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92800" y="2505714"/>
            <a:ext cx="406400" cy="406400"/>
          </a:xfrm>
          <a:prstGeom prst="roundRect">
            <a:avLst>
              <a:gd name="adj" fmla="val 28125"/>
            </a:avLst>
          </a:prstGeom>
          <a:solidFill>
            <a:srgbClr val="A8E635"/>
          </a:solidFill>
          <a:ln/>
        </p:spPr>
      </p:sp>
      <p:sp>
        <p:nvSpPr>
          <p:cNvPr id="3" name="Text 1"/>
          <p:cNvSpPr/>
          <p:nvPr/>
        </p:nvSpPr>
        <p:spPr>
          <a:xfrm>
            <a:off x="6028373" y="2557779"/>
            <a:ext cx="18597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202430" y="3089914"/>
            <a:ext cx="390075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5F6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452971" y="4067814"/>
            <a:ext cx="544463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3CD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KnowledgeIQ — Team 8, Springboard Mentorship Program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935</Words>
  <Application>Microsoft Office PowerPoint</Application>
  <PresentationFormat>Widescreen</PresentationFormat>
  <Paragraphs>166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IBM Plex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KnowledgeIQ — Project Documentation</dc:title>
  <dc:subject>PptxGenJS Presentation</dc:subject>
  <dc:creator>PptxGenJS</dc:creator>
  <cp:lastModifiedBy>_P_YADAV _</cp:lastModifiedBy>
  <cp:revision>4</cp:revision>
  <dcterms:created xsi:type="dcterms:W3CDTF">2026-09-17T12:50:32Z</dcterms:created>
  <dcterms:modified xsi:type="dcterms:W3CDTF">2026-09-17T13:03:54Z</dcterms:modified>
</cp:coreProperties>
</file>